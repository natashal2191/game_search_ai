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4"/>
  </p:sldMasterIdLst>
  <p:sldIdLst>
    <p:sldId id="256" r:id="rId5"/>
    <p:sldId id="257" r:id="rId6"/>
    <p:sldId id="259" r:id="rId7"/>
    <p:sldId id="260" r:id="rId8"/>
    <p:sldId id="261" r:id="rId9"/>
    <p:sldId id="262" r:id="rId10"/>
    <p:sldId id="258" r:id="rId11"/>
    <p:sldId id="263" r:id="rId12"/>
    <p:sldId id="265" r:id="rId13"/>
    <p:sldId id="266" r:id="rId14"/>
    <p:sldId id="267"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BD068-F19D-402C-B979-7B63F180E0DC}" v="227" dt="2026-04-02T17:31:00.978"/>
    <p1510:client id="{FD07D7EA-396B-6939-D62E-8D0FCFF64DE8}" v="206" dt="2026-04-02T17:26:19.4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E36636D-D922-432D-A958-524484B5923D}" type="datetimeFigureOut">
              <a:rPr lang="en-US" dirty="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36636D-D922-432D-A958-524484B5923D}" type="datetimeFigureOut">
              <a:rPr lang="en-US" dirty="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36636D-D922-432D-A958-524484B5923D}" type="datetimeFigureOut">
              <a:rPr lang="en-US" dirty="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E36636D-D922-432D-A958-524484B5923D}" type="datetimeFigureOut">
              <a:rPr lang="en-US" dirty="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E36636D-D922-432D-A958-524484B5923D}" type="datetimeFigureOut">
              <a:rPr lang="en-US" dirty="0"/>
              <a:pPr/>
              <a:t>4/2/2026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E36636D-D922-432D-A958-524484B5923D}" type="datetimeFigureOut">
              <a:rPr lang="en-US" dirty="0"/>
              <a:pPr/>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36636D-D922-432D-A958-524484B5923D}" type="datetimeFigureOut">
              <a:rPr lang="en-US" dirty="0"/>
              <a:pPr/>
              <a:t>4/2/2026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36636D-D922-432D-A958-524484B5923D}" type="datetimeFigureOut">
              <a:rPr lang="en-US" dirty="0"/>
              <a:pPr/>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36636D-D922-432D-A958-524484B5923D}" type="datetimeFigureOut">
              <a:rPr lang="en-US" dirty="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36636D-D922-432D-A958-524484B5923D}" type="datetimeFigureOut">
              <a:rPr lang="en-US" dirty="0"/>
              <a:pPr/>
              <a:t>4/2/2026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28FB93-0A08-4E7D-8E63-9EFA29F1E093}"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E36636D-D922-432D-A958-524484B5923D}" type="datetimeFigureOut">
              <a:rPr lang="en-US" dirty="0"/>
              <a:pPr/>
              <a:t>4/2/2026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DF28FB93-0A08-4E7D-8E63-9EFA29F1E093}"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2" r:id="rId10"/>
    <p:sldLayoutId id="2147483853" r:id="rId11"/>
    <p:sldLayoutId id="2147483854" r:id="rId12"/>
    <p:sldLayoutId id="2147483855" r:id="rId13"/>
    <p:sldLayoutId id="2147483858" r:id="rId14"/>
    <p:sldLayoutId id="2147483859" r:id="rId15"/>
    <p:sldLayoutId id="2147483850" r:id="rId16"/>
    <p:sldLayoutId id="2147483851"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BD6B-7723-6DFB-52CD-0844EF76B428}"/>
              </a:ext>
            </a:extLst>
          </p:cNvPr>
          <p:cNvSpPr>
            <a:spLocks noGrp="1"/>
          </p:cNvSpPr>
          <p:nvPr>
            <p:ph type="ctrTitle"/>
          </p:nvPr>
        </p:nvSpPr>
        <p:spPr/>
        <p:txBody>
          <a:bodyPr/>
          <a:lstStyle/>
          <a:p>
            <a:r>
              <a:rPr lang="en-US"/>
              <a:t>Tic Tac Toe</a:t>
            </a:r>
          </a:p>
        </p:txBody>
      </p:sp>
      <p:sp>
        <p:nvSpPr>
          <p:cNvPr id="3" name="Subtitle 2">
            <a:extLst>
              <a:ext uri="{FF2B5EF4-FFF2-40B4-BE49-F238E27FC236}">
                <a16:creationId xmlns:a16="http://schemas.microsoft.com/office/drawing/2014/main" id="{11D1C96B-E157-0803-97B0-9FAE336BB81B}"/>
              </a:ext>
            </a:extLst>
          </p:cNvPr>
          <p:cNvSpPr>
            <a:spLocks noGrp="1"/>
          </p:cNvSpPr>
          <p:nvPr>
            <p:ph type="subTitle" idx="1"/>
          </p:nvPr>
        </p:nvSpPr>
        <p:spPr/>
        <p:txBody>
          <a:bodyPr/>
          <a:lstStyle/>
          <a:p>
            <a:r>
              <a:rPr lang="en-US">
                <a:effectLst/>
              </a:rPr>
              <a:t>Adversarial Search for Tic-Tac-Toe</a:t>
            </a:r>
          </a:p>
          <a:p>
            <a:endParaRPr lang="en-US"/>
          </a:p>
        </p:txBody>
      </p:sp>
    </p:spTree>
    <p:extLst>
      <p:ext uri="{BB962C8B-B14F-4D97-AF65-F5344CB8AC3E}">
        <p14:creationId xmlns:p14="http://schemas.microsoft.com/office/powerpoint/2010/main" val="2196179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7E76-AE36-96C9-59D2-F7948E7EBD6D}"/>
              </a:ext>
            </a:extLst>
          </p:cNvPr>
          <p:cNvSpPr>
            <a:spLocks noGrp="1"/>
          </p:cNvSpPr>
          <p:nvPr>
            <p:ph type="title"/>
          </p:nvPr>
        </p:nvSpPr>
        <p:spPr/>
        <p:txBody>
          <a:bodyPr/>
          <a:lstStyle/>
          <a:p>
            <a:r>
              <a:rPr lang="en-US" b="1">
                <a:effectLst/>
              </a:rPr>
              <a:t>Minimax with Alpha Beta Pruning</a:t>
            </a:r>
            <a:endParaRPr lang="en-US"/>
          </a:p>
        </p:txBody>
      </p:sp>
      <p:sp>
        <p:nvSpPr>
          <p:cNvPr id="3" name="Content Placeholder 2">
            <a:extLst>
              <a:ext uri="{FF2B5EF4-FFF2-40B4-BE49-F238E27FC236}">
                <a16:creationId xmlns:a16="http://schemas.microsoft.com/office/drawing/2014/main" id="{133ADF2F-32AF-FA0D-5E58-E5EE18A9A91F}"/>
              </a:ext>
            </a:extLst>
          </p:cNvPr>
          <p:cNvSpPr>
            <a:spLocks noGrp="1"/>
          </p:cNvSpPr>
          <p:nvPr>
            <p:ph idx="1"/>
          </p:nvPr>
        </p:nvSpPr>
        <p:spPr/>
        <p:txBody>
          <a:bodyPr/>
          <a:lstStyle/>
          <a:p>
            <a:r>
              <a:rPr lang="en-US">
                <a:effectLst/>
              </a:rPr>
              <a:t>Minimax Nodes = 549,945</a:t>
            </a:r>
          </a:p>
          <a:p>
            <a:r>
              <a:rPr lang="en-US">
                <a:effectLst/>
              </a:rPr>
              <a:t>Alpha Beta Nodes = 18,296</a:t>
            </a:r>
          </a:p>
          <a:p>
            <a:r>
              <a:rPr lang="en-US">
                <a:effectLst/>
              </a:rPr>
              <a:t>Percentage Pruned = 96.67%</a:t>
            </a:r>
          </a:p>
          <a:p>
            <a:endParaRPr lang="en-US"/>
          </a:p>
        </p:txBody>
      </p:sp>
    </p:spTree>
    <p:extLst>
      <p:ext uri="{BB962C8B-B14F-4D97-AF65-F5344CB8AC3E}">
        <p14:creationId xmlns:p14="http://schemas.microsoft.com/office/powerpoint/2010/main" val="2480076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BC6A5-7143-CE4C-D104-AB84E6673E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04E0D-E5E1-DA49-7F4B-2748D96A95EE}"/>
              </a:ext>
            </a:extLst>
          </p:cNvPr>
          <p:cNvSpPr>
            <a:spLocks noGrp="1"/>
          </p:cNvSpPr>
          <p:nvPr>
            <p:ph type="title"/>
          </p:nvPr>
        </p:nvSpPr>
        <p:spPr/>
        <p:txBody>
          <a:bodyPr/>
          <a:lstStyle/>
          <a:p>
            <a:r>
              <a:rPr lang="en-US" b="1">
                <a:effectLst/>
              </a:rPr>
              <a:t>Minimax with Alpha Beta Pruning</a:t>
            </a:r>
            <a:endParaRPr lang="en-US"/>
          </a:p>
        </p:txBody>
      </p:sp>
      <p:sp>
        <p:nvSpPr>
          <p:cNvPr id="3" name="Content Placeholder 2">
            <a:extLst>
              <a:ext uri="{FF2B5EF4-FFF2-40B4-BE49-F238E27FC236}">
                <a16:creationId xmlns:a16="http://schemas.microsoft.com/office/drawing/2014/main" id="{C45E12A7-7574-3075-C943-2B5ACAFB1B0E}"/>
              </a:ext>
            </a:extLst>
          </p:cNvPr>
          <p:cNvSpPr>
            <a:spLocks noGrp="1"/>
          </p:cNvSpPr>
          <p:nvPr>
            <p:ph idx="1"/>
          </p:nvPr>
        </p:nvSpPr>
        <p:spPr/>
        <p:txBody>
          <a:bodyPr/>
          <a:lstStyle/>
          <a:p>
            <a:r>
              <a:rPr lang="en-US" b="1">
                <a:effectLst/>
              </a:rPr>
              <a:t>Q12 - Why does minimax always produce a draw in Tic-Tac-Toe, regardless of who moves first?</a:t>
            </a:r>
          </a:p>
          <a:p>
            <a:endParaRPr lang="en-US" b="1">
              <a:effectLst/>
            </a:endParaRPr>
          </a:p>
          <a:p>
            <a:pPr marL="36900" indent="0">
              <a:buNone/>
            </a:pPr>
            <a:r>
              <a:rPr lang="en-US" b="1">
                <a:effectLst/>
              </a:rPr>
              <a:t>	</a:t>
            </a:r>
            <a:r>
              <a:rPr lang="en-US">
                <a:effectLst/>
              </a:rPr>
              <a:t>Minimax always results in a draw in Tic-Tac-Toe since the game is small and can be fully 	explored. The algorithm checks all possible moves and always chooses the best one. Since 	both players play perfectly, neither makes a mistake resulting in the end being a draw</a:t>
            </a:r>
            <a:endParaRPr lang="en-US"/>
          </a:p>
        </p:txBody>
      </p:sp>
    </p:spTree>
    <p:extLst>
      <p:ext uri="{BB962C8B-B14F-4D97-AF65-F5344CB8AC3E}">
        <p14:creationId xmlns:p14="http://schemas.microsoft.com/office/powerpoint/2010/main" val="3969716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1ADBE-5B76-B5E1-8D86-D0FAC20DB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21936-6BA9-CDC0-FDE9-E0FE79332CA6}"/>
              </a:ext>
            </a:extLst>
          </p:cNvPr>
          <p:cNvSpPr>
            <a:spLocks noGrp="1"/>
          </p:cNvSpPr>
          <p:nvPr>
            <p:ph type="title"/>
          </p:nvPr>
        </p:nvSpPr>
        <p:spPr/>
        <p:txBody>
          <a:bodyPr/>
          <a:lstStyle/>
          <a:p>
            <a:r>
              <a:rPr lang="en-US" b="1">
                <a:effectLst/>
              </a:rPr>
              <a:t>Minimax with Alpha Beta Pruning</a:t>
            </a:r>
            <a:endParaRPr lang="en-US"/>
          </a:p>
        </p:txBody>
      </p:sp>
      <p:sp>
        <p:nvSpPr>
          <p:cNvPr id="3" name="Content Placeholder 2">
            <a:extLst>
              <a:ext uri="{FF2B5EF4-FFF2-40B4-BE49-F238E27FC236}">
                <a16:creationId xmlns:a16="http://schemas.microsoft.com/office/drawing/2014/main" id="{F743A07D-EE0D-C455-5AC3-F8660CCD4776}"/>
              </a:ext>
            </a:extLst>
          </p:cNvPr>
          <p:cNvSpPr>
            <a:spLocks noGrp="1"/>
          </p:cNvSpPr>
          <p:nvPr>
            <p:ph idx="1"/>
          </p:nvPr>
        </p:nvSpPr>
        <p:spPr/>
        <p:txBody>
          <a:bodyPr/>
          <a:lstStyle/>
          <a:p>
            <a:r>
              <a:rPr lang="en-US" b="1">
                <a:effectLst/>
              </a:rPr>
              <a:t>Q13 - In alpha-beta pruning, does the order in which moves are examined affect the number of nodes pruned? </a:t>
            </a:r>
          </a:p>
          <a:p>
            <a:endParaRPr lang="en-US" b="1">
              <a:effectLst/>
            </a:endParaRPr>
          </a:p>
          <a:p>
            <a:pPr marL="36900" indent="0">
              <a:buNone/>
            </a:pPr>
            <a:r>
              <a:rPr lang="en-US">
                <a:effectLst/>
              </a:rPr>
              <a:t>	Yes, move order does matter since if the algorithm checks good moves first, it can prune 	more branches and run faster. If it checks worse moves first, then it will not prune as much 	and could take longer. In the end the order effects the efficiency but not the final result.</a:t>
            </a:r>
            <a:endParaRPr lang="en-US"/>
          </a:p>
        </p:txBody>
      </p:sp>
    </p:spTree>
    <p:extLst>
      <p:ext uri="{BB962C8B-B14F-4D97-AF65-F5344CB8AC3E}">
        <p14:creationId xmlns:p14="http://schemas.microsoft.com/office/powerpoint/2010/main" val="141400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F888E-278B-7085-011B-5872F8D18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6DA2A-F650-1B39-22C8-156D47043D34}"/>
              </a:ext>
            </a:extLst>
          </p:cNvPr>
          <p:cNvSpPr>
            <a:spLocks noGrp="1"/>
          </p:cNvSpPr>
          <p:nvPr>
            <p:ph type="title"/>
          </p:nvPr>
        </p:nvSpPr>
        <p:spPr/>
        <p:txBody>
          <a:bodyPr/>
          <a:lstStyle/>
          <a:p>
            <a:r>
              <a:rPr lang="en-US" b="1">
                <a:effectLst/>
              </a:rPr>
              <a:t>Minimax with Alpha Beta Pruning</a:t>
            </a:r>
            <a:endParaRPr lang="en-US"/>
          </a:p>
        </p:txBody>
      </p:sp>
      <p:sp>
        <p:nvSpPr>
          <p:cNvPr id="3" name="Content Placeholder 2">
            <a:extLst>
              <a:ext uri="{FF2B5EF4-FFF2-40B4-BE49-F238E27FC236}">
                <a16:creationId xmlns:a16="http://schemas.microsoft.com/office/drawing/2014/main" id="{84B24785-99F9-B3C1-3F84-BF79406947C8}"/>
              </a:ext>
            </a:extLst>
          </p:cNvPr>
          <p:cNvSpPr>
            <a:spLocks noGrp="1"/>
          </p:cNvSpPr>
          <p:nvPr>
            <p:ph idx="1"/>
          </p:nvPr>
        </p:nvSpPr>
        <p:spPr/>
        <p:txBody>
          <a:bodyPr/>
          <a:lstStyle/>
          <a:p>
            <a:r>
              <a:rPr lang="en-US" b="1">
                <a:effectLst/>
              </a:rPr>
              <a:t>Q14 - What is the time complexity of minimax? What is the best-case complexity of alpha-beta? Relate your node counts to these theoretical values.</a:t>
            </a:r>
          </a:p>
          <a:p>
            <a:endParaRPr lang="en-US" b="1">
              <a:effectLst/>
            </a:endParaRPr>
          </a:p>
          <a:p>
            <a:pPr marL="36900" indent="0">
              <a:buNone/>
            </a:pPr>
            <a:r>
              <a:rPr lang="en-US">
                <a:effectLst/>
              </a:rPr>
              <a:t>	Minimax has a time complexity of O(</a:t>
            </a:r>
            <a:r>
              <a:rPr lang="en-US" err="1">
                <a:effectLst/>
              </a:rPr>
              <a:t>b^d</a:t>
            </a:r>
            <a:r>
              <a:rPr lang="en-US">
                <a:effectLst/>
              </a:rPr>
              <a:t>), where b is the branching factor (number of 	possible moves) and d is the depth of the tree, which means it explores many possible 	game states. Alpha beta pruning improves this by skipping unnecessary branches, making 	it faster in practice..</a:t>
            </a:r>
          </a:p>
          <a:p>
            <a:pPr marL="36900" indent="0">
              <a:buNone/>
            </a:pPr>
            <a:endParaRPr lang="en-US">
              <a:effectLst/>
            </a:endParaRPr>
          </a:p>
          <a:p>
            <a:pPr marL="36900" indent="0">
              <a:buNone/>
            </a:pPr>
            <a:r>
              <a:rPr lang="en-US" b="1">
                <a:effectLst/>
              </a:rPr>
              <a:t>Minimax nodes = 549,945</a:t>
            </a:r>
            <a:endParaRPr lang="en-US">
              <a:effectLst/>
            </a:endParaRPr>
          </a:p>
          <a:p>
            <a:pPr marL="36900" indent="0">
              <a:buNone/>
            </a:pPr>
            <a:r>
              <a:rPr lang="en-US" b="1">
                <a:effectLst/>
              </a:rPr>
              <a:t>Alpha beta nodes = 18,296</a:t>
            </a:r>
            <a:endParaRPr lang="en-US">
              <a:effectLst/>
            </a:endParaRPr>
          </a:p>
          <a:p>
            <a:pPr marL="36900" indent="0">
              <a:buNone/>
            </a:pPr>
            <a:endParaRPr lang="en-US"/>
          </a:p>
        </p:txBody>
      </p:sp>
    </p:spTree>
    <p:extLst>
      <p:ext uri="{BB962C8B-B14F-4D97-AF65-F5344CB8AC3E}">
        <p14:creationId xmlns:p14="http://schemas.microsoft.com/office/powerpoint/2010/main" val="1541343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BD49B-26F4-81F0-DBAF-6E7F1B14C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D1057E-A32D-BE9E-EF08-9E94CD8F0A9C}"/>
              </a:ext>
            </a:extLst>
          </p:cNvPr>
          <p:cNvSpPr>
            <a:spLocks noGrp="1"/>
          </p:cNvSpPr>
          <p:nvPr>
            <p:ph type="title"/>
          </p:nvPr>
        </p:nvSpPr>
        <p:spPr/>
        <p:txBody>
          <a:bodyPr/>
          <a:lstStyle/>
          <a:p>
            <a:r>
              <a:rPr lang="en-US" b="1">
                <a:effectLst/>
              </a:rPr>
              <a:t>Minimax with Alpha Beta Pruning</a:t>
            </a:r>
            <a:endParaRPr lang="en-US"/>
          </a:p>
        </p:txBody>
      </p:sp>
      <p:sp>
        <p:nvSpPr>
          <p:cNvPr id="3" name="Content Placeholder 2">
            <a:extLst>
              <a:ext uri="{FF2B5EF4-FFF2-40B4-BE49-F238E27FC236}">
                <a16:creationId xmlns:a16="http://schemas.microsoft.com/office/drawing/2014/main" id="{C8FC9C3A-12A3-D8D3-D358-0BCB71AA7FC6}"/>
              </a:ext>
            </a:extLst>
          </p:cNvPr>
          <p:cNvSpPr>
            <a:spLocks noGrp="1"/>
          </p:cNvSpPr>
          <p:nvPr>
            <p:ph idx="1"/>
          </p:nvPr>
        </p:nvSpPr>
        <p:spPr/>
        <p:txBody>
          <a:bodyPr/>
          <a:lstStyle/>
          <a:p>
            <a:r>
              <a:rPr lang="en-US" b="1">
                <a:effectLst/>
              </a:rPr>
              <a:t>Q15 - Would minimax be practical for a game like chess or Go?</a:t>
            </a:r>
          </a:p>
          <a:p>
            <a:endParaRPr lang="en-US" b="1">
              <a:effectLst/>
            </a:endParaRPr>
          </a:p>
          <a:p>
            <a:pPr marL="36830" indent="0">
              <a:buNone/>
            </a:pPr>
            <a:r>
              <a:rPr lang="en-US">
                <a:effectLst/>
              </a:rPr>
              <a:t>	No, minimax is not practical for large games like chess or Go because there are too many 	possible moves. The search space is too large to explore completely so other methods are 	used instead. </a:t>
            </a:r>
          </a:p>
          <a:p>
            <a:pPr marL="36830" indent="0">
              <a:buNone/>
            </a:pPr>
            <a:endParaRPr lang="en-US">
              <a:ln>
                <a:solidFill>
                  <a:prstClr val="black">
                    <a:lumMod val="75000"/>
                    <a:lumOff val="25000"/>
                    <a:alpha val="10000"/>
                  </a:prstClr>
                </a:solidFill>
              </a:ln>
              <a:effectLst/>
            </a:endParaRPr>
          </a:p>
          <a:p>
            <a:pPr marL="36830" indent="0">
              <a:buNone/>
            </a:pPr>
            <a:r>
              <a:rPr lang="en-US">
                <a:ln>
                  <a:solidFill>
                    <a:prstClr val="black">
                      <a:lumMod val="75000"/>
                      <a:lumOff val="25000"/>
                      <a:alpha val="10000"/>
                    </a:prstClr>
                  </a:solidFill>
                </a:ln>
                <a:effectLst/>
              </a:rPr>
              <a:t>In chess, the branching factor is between 30-40 depending on the board. If the depth is 3 then the time complexity would be O(30^3) , which only checks the 3 next moves and explodes exponentially.</a:t>
            </a:r>
          </a:p>
        </p:txBody>
      </p:sp>
    </p:spTree>
    <p:extLst>
      <p:ext uri="{BB962C8B-B14F-4D97-AF65-F5344CB8AC3E}">
        <p14:creationId xmlns:p14="http://schemas.microsoft.com/office/powerpoint/2010/main" val="988911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665D3-62BD-C2FF-428E-A7C685903684}"/>
              </a:ext>
            </a:extLst>
          </p:cNvPr>
          <p:cNvSpPr>
            <a:spLocks noGrp="1"/>
          </p:cNvSpPr>
          <p:nvPr>
            <p:ph type="title"/>
          </p:nvPr>
        </p:nvSpPr>
        <p:spPr/>
        <p:txBody>
          <a:bodyPr/>
          <a:lstStyle/>
          <a:p>
            <a:r>
              <a:rPr lang="en-US" b="1">
                <a:effectLst/>
              </a:rPr>
              <a:t>Verifying Correctness</a:t>
            </a:r>
            <a:endParaRPr lang="en-US"/>
          </a:p>
        </p:txBody>
      </p:sp>
      <p:sp>
        <p:nvSpPr>
          <p:cNvPr id="3" name="Content Placeholder 2">
            <a:extLst>
              <a:ext uri="{FF2B5EF4-FFF2-40B4-BE49-F238E27FC236}">
                <a16:creationId xmlns:a16="http://schemas.microsoft.com/office/drawing/2014/main" id="{2E4325BD-89BB-54A4-84EB-BBA1E86AA7D5}"/>
              </a:ext>
            </a:extLst>
          </p:cNvPr>
          <p:cNvSpPr>
            <a:spLocks noGrp="1"/>
          </p:cNvSpPr>
          <p:nvPr>
            <p:ph idx="1"/>
          </p:nvPr>
        </p:nvSpPr>
        <p:spPr/>
        <p:txBody>
          <a:bodyPr>
            <a:normAutofit fontScale="92500" lnSpcReduction="10000"/>
          </a:bodyPr>
          <a:lstStyle/>
          <a:p>
            <a:pPr marL="36900" indent="0">
              <a:buNone/>
            </a:pPr>
            <a:r>
              <a:rPr lang="en-US" b="1">
                <a:effectLst/>
              </a:rPr>
              <a:t>Q16-18</a:t>
            </a:r>
            <a:r>
              <a:rPr lang="en-US">
                <a:effectLst/>
              </a:rPr>
              <a:t>. The following are from the test results:</a:t>
            </a:r>
          </a:p>
          <a:p>
            <a:pPr marL="36900" indent="0">
              <a:buNone/>
            </a:pPr>
            <a:endParaRPr lang="en-US">
              <a:effectLst/>
            </a:endParaRPr>
          </a:p>
          <a:p>
            <a:pPr lvl="0"/>
            <a:r>
              <a:rPr lang="en-US">
                <a:effectLst/>
              </a:rPr>
              <a:t>MCTS successfully completed full games without errors</a:t>
            </a:r>
          </a:p>
          <a:p>
            <a:pPr lvl="0"/>
            <a:r>
              <a:rPr lang="en-US">
                <a:effectLst/>
              </a:rPr>
              <a:t>No illegal moves were played in 20 games</a:t>
            </a:r>
          </a:p>
          <a:p>
            <a:pPr lvl="0"/>
            <a:r>
              <a:rPr lang="en-US">
                <a:effectLst/>
              </a:rPr>
              <a:t>MCTS vs MCRS produced valid results for different iteration counts</a:t>
            </a:r>
          </a:p>
          <a:p>
            <a:pPr lvl="0"/>
            <a:endParaRPr lang="en-US">
              <a:effectLst/>
            </a:endParaRPr>
          </a:p>
          <a:p>
            <a:pPr marL="36900" indent="0">
              <a:buNone/>
            </a:pPr>
            <a:r>
              <a:rPr lang="en-US" b="1">
                <a:effectLst/>
              </a:rPr>
              <a:t>Winning Move test result :</a:t>
            </a:r>
            <a:endParaRPr lang="en-US">
              <a:effectLst/>
            </a:endParaRPr>
          </a:p>
          <a:p>
            <a:pPr marL="36900" indent="0">
              <a:buNone/>
            </a:pPr>
            <a:r>
              <a:rPr lang="en-US">
                <a:effectLst/>
              </a:rPr>
              <a:t>	X wins at 2</a:t>
            </a:r>
          </a:p>
          <a:p>
            <a:pPr marL="36900" indent="0">
              <a:buNone/>
            </a:pPr>
            <a:r>
              <a:rPr lang="en-US" b="1">
                <a:effectLst/>
              </a:rPr>
              <a:t>Blocking move test result :</a:t>
            </a:r>
            <a:endParaRPr lang="en-US">
              <a:effectLst/>
            </a:endParaRPr>
          </a:p>
          <a:p>
            <a:pPr marL="36900" indent="0">
              <a:buNone/>
            </a:pPr>
            <a:r>
              <a:rPr lang="en-US">
                <a:effectLst/>
              </a:rPr>
              <a:t>	X blocks at 5</a:t>
            </a:r>
          </a:p>
          <a:p>
            <a:endParaRPr lang="en-US"/>
          </a:p>
        </p:txBody>
      </p:sp>
    </p:spTree>
    <p:extLst>
      <p:ext uri="{BB962C8B-B14F-4D97-AF65-F5344CB8AC3E}">
        <p14:creationId xmlns:p14="http://schemas.microsoft.com/office/powerpoint/2010/main" val="110743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02C44-D505-86D1-709D-93F8042F2C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7B3002-AFDF-F3FD-6AF5-DE717C94481B}"/>
              </a:ext>
            </a:extLst>
          </p:cNvPr>
          <p:cNvSpPr>
            <a:spLocks noGrp="1"/>
          </p:cNvSpPr>
          <p:nvPr>
            <p:ph type="title"/>
          </p:nvPr>
        </p:nvSpPr>
        <p:spPr/>
        <p:txBody>
          <a:bodyPr/>
          <a:lstStyle/>
          <a:p>
            <a:r>
              <a:rPr lang="en-US" b="1">
                <a:effectLst/>
              </a:rPr>
              <a:t>Verifying Correctness</a:t>
            </a:r>
            <a:endParaRPr lang="en-US"/>
          </a:p>
        </p:txBody>
      </p:sp>
      <p:sp>
        <p:nvSpPr>
          <p:cNvPr id="3" name="Content Placeholder 2">
            <a:extLst>
              <a:ext uri="{FF2B5EF4-FFF2-40B4-BE49-F238E27FC236}">
                <a16:creationId xmlns:a16="http://schemas.microsoft.com/office/drawing/2014/main" id="{07BD587E-3E05-8290-9BF5-6B744E29E149}"/>
              </a:ext>
            </a:extLst>
          </p:cNvPr>
          <p:cNvSpPr>
            <a:spLocks noGrp="1"/>
          </p:cNvSpPr>
          <p:nvPr>
            <p:ph idx="1"/>
          </p:nvPr>
        </p:nvSpPr>
        <p:spPr/>
        <p:txBody>
          <a:bodyPr>
            <a:normAutofit/>
          </a:bodyPr>
          <a:lstStyle/>
          <a:p>
            <a:pPr marL="36900" indent="0">
              <a:buNone/>
            </a:pPr>
            <a:endParaRPr lang="en-US" b="1">
              <a:effectLst/>
            </a:endParaRPr>
          </a:p>
          <a:p>
            <a:pPr lvl="0"/>
            <a:r>
              <a:rPr lang="en-US" b="1">
                <a:effectLst/>
              </a:rPr>
              <a:t>Q19 - Run MCTS with 100, 1,000, and 10,000 iterations. How does the quality of play </a:t>
            </a:r>
            <a:r>
              <a:rPr lang="en-US" b="1" err="1">
                <a:effectLst/>
              </a:rPr>
              <a:t>change</a:t>
            </a:r>
            <a:r>
              <a:rPr lang="en-US" b="1">
                <a:effectLst/>
              </a:rPr>
              <a:t>?</a:t>
            </a:r>
          </a:p>
          <a:p>
            <a:pPr marL="36900" lvl="0" indent="0">
              <a:buNone/>
            </a:pPr>
            <a:endParaRPr lang="en-US">
              <a:effectLst/>
            </a:endParaRPr>
          </a:p>
          <a:p>
            <a:pPr marL="36900" lvl="0" indent="0">
              <a:buNone/>
            </a:pPr>
            <a:r>
              <a:rPr lang="en-US">
                <a:effectLst/>
              </a:rPr>
              <a:t>	The results from all 3 games using each iteration resulted X winning consistently across all 	3 games, the way X won was very similar for each round with a win using three horizontal 	symbols. Each iteration loaded with the same amount of time and the amount of 	iterations did not affect the quality of play. In the long run more iterations makes it more 	stable and reliable but the results do not change drastically. </a:t>
            </a:r>
          </a:p>
          <a:p>
            <a:pPr lvl="0"/>
            <a:endParaRPr lang="en-US">
              <a:effectLst/>
            </a:endParaRPr>
          </a:p>
          <a:p>
            <a:endParaRPr lang="en-US"/>
          </a:p>
        </p:txBody>
      </p:sp>
    </p:spTree>
    <p:extLst>
      <p:ext uri="{BB962C8B-B14F-4D97-AF65-F5344CB8AC3E}">
        <p14:creationId xmlns:p14="http://schemas.microsoft.com/office/powerpoint/2010/main" val="1281924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8A698-31D4-1407-6762-CDC80612E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8DD56B-B2D6-9632-A28D-D6386BF1D1C2}"/>
              </a:ext>
            </a:extLst>
          </p:cNvPr>
          <p:cNvSpPr>
            <a:spLocks noGrp="1"/>
          </p:cNvSpPr>
          <p:nvPr>
            <p:ph type="title"/>
          </p:nvPr>
        </p:nvSpPr>
        <p:spPr/>
        <p:txBody>
          <a:bodyPr/>
          <a:lstStyle/>
          <a:p>
            <a:r>
              <a:rPr lang="en-US" b="1">
                <a:effectLst/>
              </a:rPr>
              <a:t>Verifying Correctness</a:t>
            </a:r>
            <a:endParaRPr lang="en-US"/>
          </a:p>
        </p:txBody>
      </p:sp>
      <p:sp>
        <p:nvSpPr>
          <p:cNvPr id="3" name="Content Placeholder 2">
            <a:extLst>
              <a:ext uri="{FF2B5EF4-FFF2-40B4-BE49-F238E27FC236}">
                <a16:creationId xmlns:a16="http://schemas.microsoft.com/office/drawing/2014/main" id="{F5A977F0-4C4E-F49E-21E2-EED8972E46D6}"/>
              </a:ext>
            </a:extLst>
          </p:cNvPr>
          <p:cNvSpPr>
            <a:spLocks noGrp="1"/>
          </p:cNvSpPr>
          <p:nvPr>
            <p:ph idx="1"/>
          </p:nvPr>
        </p:nvSpPr>
        <p:spPr/>
        <p:txBody>
          <a:bodyPr>
            <a:normAutofit fontScale="70000" lnSpcReduction="20000"/>
          </a:bodyPr>
          <a:lstStyle/>
          <a:p>
            <a:pPr marL="36900" indent="0">
              <a:buNone/>
            </a:pPr>
            <a:endParaRPr lang="en-US" b="1">
              <a:effectLst/>
            </a:endParaRPr>
          </a:p>
          <a:p>
            <a:pPr lvl="0"/>
            <a:r>
              <a:rPr lang="en-US" b="1">
                <a:effectLst/>
              </a:rPr>
              <a:t>Q20 - Experiment with different values of C (try 0.5, 1.0, 1.41, and 2.0). How does C affect the balance between exploration and exploitation?</a:t>
            </a:r>
          </a:p>
          <a:p>
            <a:pPr marL="36900" lvl="0" indent="0">
              <a:buNone/>
            </a:pPr>
            <a:endParaRPr lang="en-US" b="1">
              <a:effectLst/>
            </a:endParaRPr>
          </a:p>
          <a:p>
            <a:pPr marL="36900" indent="0">
              <a:buNone/>
            </a:pPr>
            <a:r>
              <a:rPr lang="en-US">
                <a:effectLst/>
              </a:rPr>
              <a:t>	at 0.5: X won all games but lead to a different quality of play from O player as there were significantly less moves on the board 	and lead to a quick loss for O every time.</a:t>
            </a:r>
          </a:p>
          <a:p>
            <a:pPr marL="36900" indent="0">
              <a:buNone/>
            </a:pPr>
            <a:r>
              <a:rPr lang="en-US">
                <a:effectLst/>
              </a:rPr>
              <a:t>	at 1.0: 1 draw and x winning the rest of the games, doesn't seem much exploitation was used in this test. </a:t>
            </a:r>
          </a:p>
          <a:p>
            <a:pPr marL="36900" indent="0">
              <a:buNone/>
            </a:pPr>
            <a:r>
              <a:rPr lang="en-US">
                <a:effectLst/>
              </a:rPr>
              <a:t>	at 1.41: X won all games with the quality of play using more than 3 turns, the way X 	won was very similar for each round 	with a win using three horizontal symbols. </a:t>
            </a:r>
          </a:p>
          <a:p>
            <a:pPr marL="36900" indent="0">
              <a:buNone/>
            </a:pPr>
            <a:r>
              <a:rPr lang="en-US">
                <a:effectLst/>
              </a:rPr>
              <a:t>	at 2.0: 1 draw and x winning the rest of the games seems like x was able to use different techniques then previously used. </a:t>
            </a:r>
          </a:p>
          <a:p>
            <a:pPr marL="36900" indent="0">
              <a:buNone/>
            </a:pPr>
            <a:endParaRPr lang="en-US">
              <a:effectLst/>
            </a:endParaRPr>
          </a:p>
          <a:p>
            <a:pPr marL="36900" indent="0">
              <a:buNone/>
            </a:pPr>
            <a:r>
              <a:rPr lang="en-US">
                <a:effectLst/>
              </a:rPr>
              <a:t>	I found that the c variable is able to balance out the agent and with the higher 	value of c making the agent more curious and 	experimental with moves as the c draws lower I 	can see that the model tends to be more greedy and makes moves that create the 	highest win 	rate. With c = 1.41 giving the fairest performance based on results. </a:t>
            </a:r>
          </a:p>
          <a:p>
            <a:pPr marL="36900" indent="0">
              <a:buNone/>
            </a:pPr>
            <a:endParaRPr lang="en-US">
              <a:effectLst/>
            </a:endParaRPr>
          </a:p>
          <a:p>
            <a:pPr marL="36900" lvl="0" indent="0">
              <a:buNone/>
            </a:pPr>
            <a:endParaRPr lang="en-US">
              <a:effectLst/>
            </a:endParaRPr>
          </a:p>
          <a:p>
            <a:pPr lvl="0"/>
            <a:endParaRPr lang="en-US">
              <a:effectLst/>
            </a:endParaRPr>
          </a:p>
          <a:p>
            <a:endParaRPr lang="en-US"/>
          </a:p>
        </p:txBody>
      </p:sp>
    </p:spTree>
    <p:extLst>
      <p:ext uri="{BB962C8B-B14F-4D97-AF65-F5344CB8AC3E}">
        <p14:creationId xmlns:p14="http://schemas.microsoft.com/office/powerpoint/2010/main" val="362351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F1272-16B0-88DC-6FFC-4B900E446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A68A1-EC7A-E74F-76DC-4A33534328F0}"/>
              </a:ext>
            </a:extLst>
          </p:cNvPr>
          <p:cNvSpPr>
            <a:spLocks noGrp="1"/>
          </p:cNvSpPr>
          <p:nvPr>
            <p:ph type="title"/>
          </p:nvPr>
        </p:nvSpPr>
        <p:spPr/>
        <p:txBody>
          <a:bodyPr/>
          <a:lstStyle/>
          <a:p>
            <a:r>
              <a:rPr lang="en-US" b="1">
                <a:effectLst/>
              </a:rPr>
              <a:t>Verifying Correctness</a:t>
            </a:r>
            <a:endParaRPr lang="en-US"/>
          </a:p>
        </p:txBody>
      </p:sp>
      <p:sp>
        <p:nvSpPr>
          <p:cNvPr id="3" name="Content Placeholder 2">
            <a:extLst>
              <a:ext uri="{FF2B5EF4-FFF2-40B4-BE49-F238E27FC236}">
                <a16:creationId xmlns:a16="http://schemas.microsoft.com/office/drawing/2014/main" id="{7A188281-F0A9-4D05-F9D3-7AB2C6C81DA0}"/>
              </a:ext>
            </a:extLst>
          </p:cNvPr>
          <p:cNvSpPr>
            <a:spLocks noGrp="1"/>
          </p:cNvSpPr>
          <p:nvPr>
            <p:ph idx="1"/>
          </p:nvPr>
        </p:nvSpPr>
        <p:spPr/>
        <p:txBody>
          <a:bodyPr>
            <a:normAutofit/>
          </a:bodyPr>
          <a:lstStyle/>
          <a:p>
            <a:pPr marL="36900" indent="0">
              <a:buNone/>
            </a:pPr>
            <a:endParaRPr lang="en-US" b="1">
              <a:effectLst/>
            </a:endParaRPr>
          </a:p>
          <a:p>
            <a:pPr lvl="0"/>
            <a:r>
              <a:rPr lang="en-US" b="1">
                <a:effectLst/>
              </a:rPr>
              <a:t>Q21 - Why does the algorithm return the move with the most visits rather than the highest win rate?</a:t>
            </a:r>
          </a:p>
          <a:p>
            <a:pPr lvl="0"/>
            <a:r>
              <a:rPr lang="en-US">
                <a:effectLst/>
              </a:rPr>
              <a:t>It's best for the agent to output and use the most visited games as these are better for statistical analysis and better to see how the model behaves and acts for the win rather than win rate because that could be luck.</a:t>
            </a:r>
          </a:p>
          <a:p>
            <a:pPr marL="36900" lvl="0" indent="0">
              <a:buNone/>
            </a:pPr>
            <a:endParaRPr lang="en-US">
              <a:effectLst/>
            </a:endParaRPr>
          </a:p>
          <a:p>
            <a:pPr lvl="0"/>
            <a:endParaRPr lang="en-US">
              <a:effectLst/>
            </a:endParaRPr>
          </a:p>
          <a:p>
            <a:endParaRPr lang="en-US"/>
          </a:p>
        </p:txBody>
      </p:sp>
    </p:spTree>
    <p:extLst>
      <p:ext uri="{BB962C8B-B14F-4D97-AF65-F5344CB8AC3E}">
        <p14:creationId xmlns:p14="http://schemas.microsoft.com/office/powerpoint/2010/main" val="3177151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6A2BB-5215-D6CD-3AF4-EB7BB6228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447D5-CAB5-A901-6F6C-C20216F38016}"/>
              </a:ext>
            </a:extLst>
          </p:cNvPr>
          <p:cNvSpPr>
            <a:spLocks noGrp="1"/>
          </p:cNvSpPr>
          <p:nvPr>
            <p:ph type="title"/>
          </p:nvPr>
        </p:nvSpPr>
        <p:spPr/>
        <p:txBody>
          <a:bodyPr/>
          <a:lstStyle/>
          <a:p>
            <a:r>
              <a:rPr lang="en-US" b="1">
                <a:effectLst/>
              </a:rPr>
              <a:t>Verifying Correctness</a:t>
            </a:r>
            <a:endParaRPr lang="en-US"/>
          </a:p>
        </p:txBody>
      </p:sp>
      <p:sp>
        <p:nvSpPr>
          <p:cNvPr id="3" name="Content Placeholder 2">
            <a:extLst>
              <a:ext uri="{FF2B5EF4-FFF2-40B4-BE49-F238E27FC236}">
                <a16:creationId xmlns:a16="http://schemas.microsoft.com/office/drawing/2014/main" id="{86C2C4A6-A03B-D678-D169-042CC4D5D988}"/>
              </a:ext>
            </a:extLst>
          </p:cNvPr>
          <p:cNvSpPr>
            <a:spLocks noGrp="1"/>
          </p:cNvSpPr>
          <p:nvPr>
            <p:ph idx="1"/>
          </p:nvPr>
        </p:nvSpPr>
        <p:spPr/>
        <p:txBody>
          <a:bodyPr>
            <a:normAutofit/>
          </a:bodyPr>
          <a:lstStyle/>
          <a:p>
            <a:pPr marL="36900" indent="0">
              <a:buNone/>
            </a:pPr>
            <a:endParaRPr lang="en-US" b="1">
              <a:effectLst/>
            </a:endParaRPr>
          </a:p>
          <a:p>
            <a:pPr lvl="0"/>
            <a:r>
              <a:rPr lang="en-US" b="1">
                <a:effectLst/>
              </a:rPr>
              <a:t>Q22 - MCTS does not require an evaluation function; it only needs the rules of the game. Why is this an advantage for certain games? </a:t>
            </a:r>
          </a:p>
          <a:p>
            <a:pPr lvl="0"/>
            <a:endParaRPr lang="en-US" b="1">
              <a:effectLst/>
            </a:endParaRPr>
          </a:p>
          <a:p>
            <a:pPr marL="36900" lvl="0" indent="0">
              <a:buNone/>
            </a:pPr>
            <a:r>
              <a:rPr lang="en-US" b="1">
                <a:effectLst/>
              </a:rPr>
              <a:t>	</a:t>
            </a:r>
            <a:r>
              <a:rPr lang="en-US">
                <a:effectLst/>
              </a:rPr>
              <a:t>No evaluation function is an advantage for some games, especially when certain games are 	complex and there aren't simple rules for winning like GO and some games have huge 	search spaces with MCTS it learns by simulation and focuses on promising areas of the 	board.</a:t>
            </a:r>
          </a:p>
          <a:p>
            <a:pPr marL="36900" lvl="0" indent="0">
              <a:buNone/>
            </a:pPr>
            <a:endParaRPr lang="en-US">
              <a:effectLst/>
            </a:endParaRPr>
          </a:p>
          <a:p>
            <a:pPr lvl="0"/>
            <a:endParaRPr lang="en-US">
              <a:effectLst/>
            </a:endParaRPr>
          </a:p>
          <a:p>
            <a:endParaRPr lang="en-US"/>
          </a:p>
        </p:txBody>
      </p:sp>
    </p:spTree>
    <p:extLst>
      <p:ext uri="{BB962C8B-B14F-4D97-AF65-F5344CB8AC3E}">
        <p14:creationId xmlns:p14="http://schemas.microsoft.com/office/powerpoint/2010/main" val="1062387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44633-69AA-C568-AA3D-D97AF6E14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99A6A-F11E-7C6B-678F-8F45B6F49910}"/>
              </a:ext>
            </a:extLst>
          </p:cNvPr>
          <p:cNvSpPr>
            <a:spLocks noGrp="1"/>
          </p:cNvSpPr>
          <p:nvPr>
            <p:ph type="title"/>
          </p:nvPr>
        </p:nvSpPr>
        <p:spPr/>
        <p:txBody>
          <a:bodyPr/>
          <a:lstStyle/>
          <a:p>
            <a:r>
              <a:rPr lang="en-US" b="1">
                <a:effectLst/>
              </a:rPr>
              <a:t>Head-to-Head comparison</a:t>
            </a:r>
            <a:endParaRPr lang="en-US">
              <a:effectLst/>
            </a:endParaRPr>
          </a:p>
        </p:txBody>
      </p:sp>
      <p:sp>
        <p:nvSpPr>
          <p:cNvPr id="3" name="Content Placeholder 2">
            <a:extLst>
              <a:ext uri="{FF2B5EF4-FFF2-40B4-BE49-F238E27FC236}">
                <a16:creationId xmlns:a16="http://schemas.microsoft.com/office/drawing/2014/main" id="{259F264F-E0E6-2BBF-8D42-D946D4EC318D}"/>
              </a:ext>
            </a:extLst>
          </p:cNvPr>
          <p:cNvSpPr>
            <a:spLocks noGrp="1"/>
          </p:cNvSpPr>
          <p:nvPr>
            <p:ph idx="1"/>
          </p:nvPr>
        </p:nvSpPr>
        <p:spPr/>
        <p:txBody>
          <a:bodyPr>
            <a:normAutofit/>
          </a:bodyPr>
          <a:lstStyle/>
          <a:p>
            <a:pPr marL="36900" indent="0">
              <a:buNone/>
            </a:pPr>
            <a:endParaRPr lang="en-US" b="1">
              <a:effectLst/>
            </a:endParaRPr>
          </a:p>
          <a:p>
            <a:pPr lvl="0"/>
            <a:r>
              <a:rPr lang="en-US" b="1">
                <a:effectLst/>
              </a:rPr>
              <a:t>Q27 - Which agent wins more games against the random player? Are the results what you expected?</a:t>
            </a:r>
          </a:p>
          <a:p>
            <a:pPr lvl="0"/>
            <a:endParaRPr lang="en-US" b="1">
              <a:effectLst/>
            </a:endParaRPr>
          </a:p>
          <a:p>
            <a:pPr marL="36900" lvl="0" indent="0">
              <a:buNone/>
            </a:pPr>
            <a:r>
              <a:rPr lang="en-US" b="1">
                <a:effectLst/>
              </a:rPr>
              <a:t>	</a:t>
            </a:r>
            <a:r>
              <a:rPr lang="en-US">
                <a:effectLst/>
              </a:rPr>
              <a:t> Minimax wins more games against the random player, winning 100% of the games, while 	MCTS also performs very well with a 99% win rate. This is expected since both algorithms 	make strong decisions but minimax guarantees optimal play.</a:t>
            </a:r>
          </a:p>
          <a:p>
            <a:pPr lvl="0"/>
            <a:endParaRPr lang="en-US">
              <a:effectLst/>
            </a:endParaRPr>
          </a:p>
          <a:p>
            <a:endParaRPr lang="en-US"/>
          </a:p>
        </p:txBody>
      </p:sp>
    </p:spTree>
    <p:extLst>
      <p:ext uri="{BB962C8B-B14F-4D97-AF65-F5344CB8AC3E}">
        <p14:creationId xmlns:p14="http://schemas.microsoft.com/office/powerpoint/2010/main" val="18242542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2DC3D-5DEB-47A4-8D9A-0C0E3CF46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9412A6-A8D4-5164-AC30-8AAF254E3ED2}"/>
              </a:ext>
            </a:extLst>
          </p:cNvPr>
          <p:cNvSpPr>
            <a:spLocks noGrp="1"/>
          </p:cNvSpPr>
          <p:nvPr>
            <p:ph type="title"/>
          </p:nvPr>
        </p:nvSpPr>
        <p:spPr/>
        <p:txBody>
          <a:bodyPr/>
          <a:lstStyle/>
          <a:p>
            <a:r>
              <a:rPr lang="en-US" b="1">
                <a:effectLst/>
              </a:rPr>
              <a:t>Head-to-Head comparison</a:t>
            </a:r>
            <a:endParaRPr lang="en-US">
              <a:effectLst/>
            </a:endParaRPr>
          </a:p>
        </p:txBody>
      </p:sp>
      <p:sp>
        <p:nvSpPr>
          <p:cNvPr id="3" name="Content Placeholder 2">
            <a:extLst>
              <a:ext uri="{FF2B5EF4-FFF2-40B4-BE49-F238E27FC236}">
                <a16:creationId xmlns:a16="http://schemas.microsoft.com/office/drawing/2014/main" id="{E4923DFD-7F2F-6265-167D-DF54DD135BB3}"/>
              </a:ext>
            </a:extLst>
          </p:cNvPr>
          <p:cNvSpPr>
            <a:spLocks noGrp="1"/>
          </p:cNvSpPr>
          <p:nvPr>
            <p:ph idx="1"/>
          </p:nvPr>
        </p:nvSpPr>
        <p:spPr/>
        <p:txBody>
          <a:bodyPr>
            <a:normAutofit/>
          </a:bodyPr>
          <a:lstStyle/>
          <a:p>
            <a:pPr marL="36900" indent="0">
              <a:buNone/>
            </a:pPr>
            <a:endParaRPr lang="en-US" b="1">
              <a:effectLst/>
            </a:endParaRPr>
          </a:p>
          <a:p>
            <a:pPr lvl="0"/>
            <a:r>
              <a:rPr lang="en-US" b="1">
                <a:effectLst/>
              </a:rPr>
              <a:t>Q28 - When minimax plays against MCTS, what happens? Does MCTS ever lose? If so, how many iterations does it need to avoid losing?</a:t>
            </a:r>
          </a:p>
          <a:p>
            <a:pPr lvl="0"/>
            <a:endParaRPr lang="en-US" b="1">
              <a:effectLst/>
            </a:endParaRPr>
          </a:p>
          <a:p>
            <a:pPr marL="36900" lvl="0" indent="0">
              <a:buNone/>
            </a:pPr>
            <a:r>
              <a:rPr lang="en-US" b="1">
                <a:effectLst/>
              </a:rPr>
              <a:t>	</a:t>
            </a:r>
            <a:r>
              <a:rPr lang="en-US">
                <a:effectLst/>
              </a:rPr>
              <a:t> When minimax plays against MCTS, minimax does not lose and mostly results in draws. 	MCTS loses a small number of games when playing as X and loses 4 games when playing 	against minimax as 0. This shows that MCTS needs a high number of iterations to match 	minimax’s optimal play. </a:t>
            </a:r>
          </a:p>
          <a:p>
            <a:endParaRPr lang="en-US"/>
          </a:p>
        </p:txBody>
      </p:sp>
    </p:spTree>
    <p:extLst>
      <p:ext uri="{BB962C8B-B14F-4D97-AF65-F5344CB8AC3E}">
        <p14:creationId xmlns:p14="http://schemas.microsoft.com/office/powerpoint/2010/main" val="245317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13AE6-633B-7ED4-9D3E-1AF6E8171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C100C-BBFC-C602-09A6-6D226999E4F9}"/>
              </a:ext>
            </a:extLst>
          </p:cNvPr>
          <p:cNvSpPr>
            <a:spLocks noGrp="1"/>
          </p:cNvSpPr>
          <p:nvPr>
            <p:ph type="title"/>
          </p:nvPr>
        </p:nvSpPr>
        <p:spPr/>
        <p:txBody>
          <a:bodyPr/>
          <a:lstStyle/>
          <a:p>
            <a:r>
              <a:rPr lang="en-US" b="1">
                <a:effectLst/>
              </a:rPr>
              <a:t>Head-to-Head comparison</a:t>
            </a:r>
            <a:endParaRPr lang="en-US">
              <a:effectLst/>
            </a:endParaRPr>
          </a:p>
        </p:txBody>
      </p:sp>
      <p:sp>
        <p:nvSpPr>
          <p:cNvPr id="3" name="Content Placeholder 2">
            <a:extLst>
              <a:ext uri="{FF2B5EF4-FFF2-40B4-BE49-F238E27FC236}">
                <a16:creationId xmlns:a16="http://schemas.microsoft.com/office/drawing/2014/main" id="{34983C36-50E6-A495-4CA3-8E73A2B24913}"/>
              </a:ext>
            </a:extLst>
          </p:cNvPr>
          <p:cNvSpPr>
            <a:spLocks noGrp="1"/>
          </p:cNvSpPr>
          <p:nvPr>
            <p:ph idx="1"/>
          </p:nvPr>
        </p:nvSpPr>
        <p:spPr/>
        <p:txBody>
          <a:bodyPr>
            <a:normAutofit/>
          </a:bodyPr>
          <a:lstStyle/>
          <a:p>
            <a:pPr marL="36900" indent="0">
              <a:buNone/>
            </a:pPr>
            <a:endParaRPr lang="en-US" b="1">
              <a:effectLst/>
            </a:endParaRPr>
          </a:p>
          <a:p>
            <a:pPr lvl="0"/>
            <a:r>
              <a:rPr lang="en-US" b="1">
                <a:effectLst/>
              </a:rPr>
              <a:t>Q28 - When minimax plays against MCTS, what happens? Does MCTS ever lose? If so, how many iterations does it need to avoid losing?</a:t>
            </a:r>
          </a:p>
          <a:p>
            <a:pPr lvl="0"/>
            <a:endParaRPr lang="en-US" b="1">
              <a:effectLst/>
            </a:endParaRPr>
          </a:p>
          <a:p>
            <a:pPr marL="36900" lvl="0" indent="0">
              <a:buNone/>
            </a:pPr>
            <a:r>
              <a:rPr lang="en-US" b="1">
                <a:effectLst/>
              </a:rPr>
              <a:t>	</a:t>
            </a:r>
            <a:r>
              <a:rPr lang="en-US">
                <a:effectLst/>
              </a:rPr>
              <a:t> When minimax plays against MCTS, minimax does not lose and mostly results in draws. 	MCTS loses a small number of games when playing as X and loses 4 games when playing 	against minimax as 0. This shows that MCTS needs a high number of iterations to match 	minimax’s optimal play. </a:t>
            </a:r>
          </a:p>
          <a:p>
            <a:endParaRPr lang="en-US"/>
          </a:p>
        </p:txBody>
      </p:sp>
    </p:spTree>
    <p:extLst>
      <p:ext uri="{BB962C8B-B14F-4D97-AF65-F5344CB8AC3E}">
        <p14:creationId xmlns:p14="http://schemas.microsoft.com/office/powerpoint/2010/main" val="23689951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1c32d5b2-2714-4f79-90a0-0a9674785cc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D44D882DA3EF545A026F7E7D75AAD68" ma:contentTypeVersion="11" ma:contentTypeDescription="Create a new document." ma:contentTypeScope="" ma:versionID="ccc9e883889e4b1b9f2b06f544bd07b2">
  <xsd:schema xmlns:xsd="http://www.w3.org/2001/XMLSchema" xmlns:xs="http://www.w3.org/2001/XMLSchema" xmlns:p="http://schemas.microsoft.com/office/2006/metadata/properties" xmlns:ns3="1c32d5b2-2714-4f79-90a0-0a9674785cca" targetNamespace="http://schemas.microsoft.com/office/2006/metadata/properties" ma:root="true" ma:fieldsID="cb5d3850cd86bae2d521f3a31214ccee" ns3:_="">
    <xsd:import namespace="1c32d5b2-2714-4f79-90a0-0a9674785cca"/>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SystemTags" minOccurs="0"/>
                <xsd:element ref="ns3:MediaServiceLocation"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2d5b2-2714-4f79-90a0-0a9674785c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Location" ma:index="14" nillable="true" ma:displayName="Location" ma:indexed="true"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552EB9-5022-458D-8A6E-BD520D92CE62}">
  <ds:schemaRefs>
    <ds:schemaRef ds:uri="1c32d5b2-2714-4f79-90a0-0a9674785cc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D98A122-A807-4719-B893-1A8557CA4FF1}">
  <ds:schemaRefs>
    <ds:schemaRef ds:uri="http://schemas.microsoft.com/sharepoint/v3/contenttype/forms"/>
  </ds:schemaRefs>
</ds:datastoreItem>
</file>

<file path=customXml/itemProps3.xml><?xml version="1.0" encoding="utf-8"?>
<ds:datastoreItem xmlns:ds="http://schemas.openxmlformats.org/officeDocument/2006/customXml" ds:itemID="{D97E8A2F-BE4B-4B65-8A41-1456B3495883}">
  <ds:schemaRefs>
    <ds:schemaRef ds:uri="1c32d5b2-2714-4f79-90a0-0a9674785cc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TM04033929[[fn=Slate]]</Template>
  <Application>Microsoft Office PowerPoint</Application>
  <PresentationFormat>Widescreen</PresentationFormat>
  <Slides>14</Slides>
  <Notes>0</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Slate</vt:lpstr>
      <vt:lpstr>Tic Tac Toe</vt:lpstr>
      <vt:lpstr>Minimax with Alpha Beta Pruning</vt:lpstr>
      <vt:lpstr>Minimax with Alpha Beta Pruning</vt:lpstr>
      <vt:lpstr>Minimax with Alpha Beta Pruning</vt:lpstr>
      <vt:lpstr>Minimax with Alpha Beta Pruning</vt:lpstr>
      <vt:lpstr>Minimax with Alpha Beta Pruning</vt:lpstr>
      <vt:lpstr>Verifying Correctness</vt:lpstr>
      <vt:lpstr>Verifying Correctness</vt:lpstr>
      <vt:lpstr>Verifying Correctness</vt:lpstr>
      <vt:lpstr>Verifying Correctness</vt:lpstr>
      <vt:lpstr>Verifying Correctness</vt:lpstr>
      <vt:lpstr>Head-to-Head comparison</vt:lpstr>
      <vt:lpstr>Head-to-Head comparison</vt:lpstr>
      <vt:lpstr>Head-to-Head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Jeffery Batz</dc:creator>
  <cp:revision>2</cp:revision>
  <dcterms:created xsi:type="dcterms:W3CDTF">2026-04-02T17:06:58Z</dcterms:created>
  <dcterms:modified xsi:type="dcterms:W3CDTF">2026-04-02T22:20:10Z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0x0101006D44D882DA3EF545A026F7E7D75AAD68</vt:lpwstr>
  </property>
</Properties>
</file>